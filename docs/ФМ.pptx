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Nunito"/>
      <p:regular r:id="rId19"/>
      <p:bold r:id="rId20"/>
      <p:italic r:id="rId21"/>
      <p:boldItalic r:id="rId22"/>
    </p:embeddedFont>
    <p:embeddedFont>
      <p:font typeface="Maven Pro"/>
      <p:regular r:id="rId23"/>
      <p:bold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-bold.fntdata"/><Relationship Id="rId11" Type="http://schemas.openxmlformats.org/officeDocument/2006/relationships/slide" Target="slides/slide6.xml"/><Relationship Id="rId22" Type="http://schemas.openxmlformats.org/officeDocument/2006/relationships/font" Target="fonts/Nunito-boldItalic.fntdata"/><Relationship Id="rId10" Type="http://schemas.openxmlformats.org/officeDocument/2006/relationships/slide" Target="slides/slide5.xml"/><Relationship Id="rId21" Type="http://schemas.openxmlformats.org/officeDocument/2006/relationships/font" Target="fonts/Nunito-italic.fntdata"/><Relationship Id="rId13" Type="http://schemas.openxmlformats.org/officeDocument/2006/relationships/slide" Target="slides/slide8.xml"/><Relationship Id="rId24" Type="http://schemas.openxmlformats.org/officeDocument/2006/relationships/font" Target="fonts/MavenPro-bold.fntdata"/><Relationship Id="rId12" Type="http://schemas.openxmlformats.org/officeDocument/2006/relationships/slide" Target="slides/slide7.xml"/><Relationship Id="rId23" Type="http://schemas.openxmlformats.org/officeDocument/2006/relationships/font" Target="fonts/MavenPr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Nunito-regular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e205363dec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e205363dec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e205363dec_0_4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e205363dec_0_4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e205363dec_0_4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e205363dec_0_4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e205363dec_0_4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3e205363dec_0_4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e205363dec_0_4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3e205363dec_0_4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e205363dec_0_4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3e205363dec_0_4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e205363dec_0_4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e205363dec_0_4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e205363dec_0_5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3e205363dec_0_5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e205363dec_0_5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3e205363dec_0_5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e205363dec_0_5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3e205363dec_0_5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e205363dec_0_5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3e205363dec_0_5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e205363dec_0_5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3e205363dec_0_5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/>
              <a:t>БПЛА: Фрактальний аналіз траєкторій</a:t>
            </a:r>
            <a:endParaRPr/>
          </a:p>
        </p:txBody>
      </p:sp>
      <p:sp>
        <p:nvSpPr>
          <p:cNvPr id="278" name="Google Shape;278;p13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/>
              <a:t>Склад команди: </a:t>
            </a:r>
            <a:r>
              <a:rPr lang="uk"/>
              <a:t>Литвішко К., Прокопів О., Мартинович В., Загайко В.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/>
              <a:t> Мета та задачі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/>
              <a:t>Мета: аналіз часових рядів траєкторій БПЛА методами фрактальної геометрії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uk"/>
              <a:t> Задачі: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uk"/>
              <a:t>    - Моделювання траєкторій при різних алгоритмах навігації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uk"/>
              <a:t>    - Обчислення фрактальної розмірності, показника Херста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uk"/>
              <a:t>    - Мультифрактальний аналіз (MF-DFA)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uk"/>
              <a:t>    - Дослідження зв'язку між складністю траєкторії та енергоефективністю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/>
              <a:t>Дані та алгоритми навігації</a:t>
            </a:r>
            <a:endParaRPr/>
          </a:p>
        </p:txBody>
      </p:sp>
      <p:sp>
        <p:nvSpPr>
          <p:cNvPr id="290" name="Google Shape;290;p15"/>
          <p:cNvSpPr txBox="1"/>
          <p:nvPr>
            <p:ph idx="1" type="body"/>
          </p:nvPr>
        </p:nvSpPr>
        <p:spPr>
          <a:xfrm>
            <a:off x="1303800" y="1512000"/>
            <a:ext cx="7030500" cy="30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/>
              <a:t>5 режимів руху БПЛА:</a:t>
            </a:r>
            <a:endParaRPr b="1"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b="1" lang="uk"/>
              <a:t>Лінійний (linear) - рівномірний рух з накопиченим шумом</a:t>
            </a:r>
            <a:endParaRPr b="1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b="1" lang="uk"/>
              <a:t>Waypoint - переміщення між контрольними точками</a:t>
            </a:r>
            <a:endParaRPr b="1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b="1" lang="uk"/>
              <a:t>Обстеження (survey) - зигзагоподібний патерн</a:t>
            </a:r>
            <a:endParaRPr b="1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b="1" lang="uk"/>
              <a:t>Патрулювання (patrol) - синусоїдний маршрут</a:t>
            </a:r>
            <a:endParaRPr b="1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b="1" lang="uk"/>
              <a:t>Хаотичний (chaotic) - непередбачуваний рух</a:t>
            </a:r>
            <a:endParaRPr b="1"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6"/>
          <p:cNvSpPr txBox="1"/>
          <p:nvPr>
            <p:ph type="title"/>
          </p:nvPr>
        </p:nvSpPr>
        <p:spPr>
          <a:xfrm>
            <a:off x="1339800" y="173775"/>
            <a:ext cx="7030500" cy="65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/>
              <a:t>Прогноз </a:t>
            </a:r>
            <a:r>
              <a:rPr lang="uk"/>
              <a:t>траєкторій</a:t>
            </a:r>
            <a:r>
              <a:rPr lang="uk"/>
              <a:t> на справжньому датасеті</a:t>
            </a:r>
            <a:endParaRPr/>
          </a:p>
        </p:txBody>
      </p:sp>
      <p:pic>
        <p:nvPicPr>
          <p:cNvPr id="296" name="Google Shape;29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62875"/>
            <a:ext cx="8839201" cy="26217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7"/>
          <p:cNvSpPr txBox="1"/>
          <p:nvPr>
            <p:ph type="title"/>
          </p:nvPr>
        </p:nvSpPr>
        <p:spPr>
          <a:xfrm>
            <a:off x="1303800" y="598575"/>
            <a:ext cx="7030500" cy="70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/>
              <a:t>Фрактальний аналіз </a:t>
            </a:r>
            <a:endParaRPr/>
          </a:p>
        </p:txBody>
      </p:sp>
      <p:sp>
        <p:nvSpPr>
          <p:cNvPr id="302" name="Google Shape;302;p17"/>
          <p:cNvSpPr txBox="1"/>
          <p:nvPr>
            <p:ph idx="1" type="body"/>
          </p:nvPr>
        </p:nvSpPr>
        <p:spPr>
          <a:xfrm>
            <a:off x="1303800" y="1245600"/>
            <a:ext cx="7030500" cy="352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/>
              <a:t>Обчислювані характеристики: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uk"/>
              <a:t>- Показник Херста H (метод R/S):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uk"/>
              <a:t> </a:t>
            </a:r>
            <a:r>
              <a:rPr b="1" lang="uk"/>
              <a:t>   - </a:t>
            </a:r>
            <a:r>
              <a:rPr b="1" lang="uk"/>
              <a:t>H &gt; 0.5 → персистентний ряд (трендостійкий)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uk"/>
              <a:t>    - H &lt; 0.5 → антиперсистентний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uk"/>
              <a:t>    - H = 0.5 → броунівський шум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uk"/>
              <a:t>  - Фрактальна розмірність: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uk"/>
              <a:t>    - Теоретична: D = 2 − H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uk"/>
              <a:t>    - Емпірична: box-counting (власна реалізація)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uk"/>
              <a:t>  - Порівняння 5 алгоритмів за H, D та енергією E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8"/>
          <p:cNvSpPr txBox="1"/>
          <p:nvPr>
            <p:ph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8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09" name="Google Shape;30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1919" y="0"/>
            <a:ext cx="741776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9"/>
          <p:cNvSpPr txBox="1"/>
          <p:nvPr>
            <p:ph type="title"/>
          </p:nvPr>
        </p:nvSpPr>
        <p:spPr>
          <a:xfrm>
            <a:off x="1303800" y="202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/>
              <a:t>MF-DFA (Multifractal Detrended Fluctuation Analysis)</a:t>
            </a:r>
            <a:endParaRPr/>
          </a:p>
        </p:txBody>
      </p:sp>
      <p:sp>
        <p:nvSpPr>
          <p:cNvPr id="315" name="Google Shape;315;p19"/>
          <p:cNvSpPr txBox="1"/>
          <p:nvPr>
            <p:ph idx="1" type="body"/>
          </p:nvPr>
        </p:nvSpPr>
        <p:spPr>
          <a:xfrm>
            <a:off x="1094700" y="1334700"/>
            <a:ext cx="7448700" cy="380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uk" sz="1110"/>
              <a:t> 1. Обчислення профілю: Y(i) = Σ(x − μ)</a:t>
            </a:r>
            <a:endParaRPr sz="111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uk" sz="1110"/>
              <a:t>  2. Розбиття на сегменти масштабу s</a:t>
            </a:r>
            <a:endParaRPr sz="111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uk" sz="1110"/>
              <a:t>  3. Поліноміальний детрендинг</a:t>
            </a:r>
            <a:endParaRPr sz="111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uk" sz="1110"/>
              <a:t>  4. Узагальнена функція флуктуацій F_q(s) для різних q</a:t>
            </a:r>
            <a:endParaRPr sz="111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uk" sz="1110"/>
              <a:t>  5. Нахил log-log → H(q)</a:t>
            </a:r>
            <a:endParaRPr sz="111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uk" sz="1110"/>
              <a:t>  Спектр f(α):</a:t>
            </a:r>
            <a:endParaRPr sz="111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uk" sz="1110"/>
              <a:t>  - α (показник Гельдера) — локальна сингулярність</a:t>
            </a:r>
            <a:endParaRPr sz="111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uk" sz="1110"/>
              <a:t>  - f(α) — розмірність носія з показником α</a:t>
            </a:r>
            <a:endParaRPr sz="111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uk" sz="1110"/>
              <a:t>  - Ширина Δα = ступінь мультифрактальності</a:t>
            </a:r>
            <a:endParaRPr sz="111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uk" sz="1110"/>
              <a:t>    - Вузький Δα → монофрактал (рівномірна структура)</a:t>
            </a:r>
            <a:endParaRPr sz="111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uk" sz="1110"/>
              <a:t>    - Широкий Δα → складна нерівномірна структура</a:t>
            </a:r>
            <a:endParaRPr sz="111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t/>
            </a:r>
            <a:endParaRPr sz="111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770"/>
              <a:buNone/>
            </a:pPr>
            <a:r>
              <a:t/>
            </a:r>
            <a:endParaRPr sz="111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0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20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22" name="Google Shape;32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800" y="321150"/>
            <a:ext cx="8870400" cy="4614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1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/>
              <a:t>Енергоефективність</a:t>
            </a:r>
            <a:endParaRPr/>
          </a:p>
        </p:txBody>
      </p:sp>
      <p:sp>
        <p:nvSpPr>
          <p:cNvPr id="328" name="Google Shape;328;p21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/>
              <a:t>Досліджено 6 рівнів шуму σ ∈ {0.2, 0.5, 1.0, 2.0, 3.5, 5.0}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uk"/>
              <a:t>  - Обчислено кореляцію Пірсона r(D, E)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uk"/>
              <a:t>  - Висновок: вища фрактальна розмірність D -&gt; більші витрати енергії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2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22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35" name="Google Shape;33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0800" y="32225"/>
            <a:ext cx="7187724" cy="511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3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/>
              <a:t>Довготривалі кореляції</a:t>
            </a:r>
            <a:endParaRPr/>
          </a:p>
        </p:txBody>
      </p:sp>
      <p:sp>
        <p:nvSpPr>
          <p:cNvPr id="341" name="Google Shape;341;p23"/>
          <p:cNvSpPr txBox="1"/>
          <p:nvPr>
            <p:ph idx="1" type="body"/>
          </p:nvPr>
        </p:nvSpPr>
        <p:spPr>
          <a:xfrm>
            <a:off x="1303800" y="1990050"/>
            <a:ext cx="7030500" cy="284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/>
              <a:t>  </a:t>
            </a:r>
            <a:r>
              <a:rPr lang="uk"/>
              <a:t>1. ACF - автокореляційна функція: повільне згасання = ознака фрактального процесу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uk"/>
              <a:t>  2. PACF - часткова ACF: визначає порядок AR-компоненти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uk"/>
              <a:t>  3. R/S аналіз (власна реалізація):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uk"/>
              <a:t>    - Rescaled Range = (max − min девіацій) / стандартне відхилення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uk"/>
              <a:t>    - Нахил log(R/S) vs log(n) → показник Херста H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uk"/>
              <a:t>    - Узгоджується з порядком Хреста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2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48" name="Google Shape;34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087" y="54950"/>
            <a:ext cx="8199823" cy="5033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5"/>
          <p:cNvSpPr txBox="1"/>
          <p:nvPr>
            <p:ph type="title"/>
          </p:nvPr>
        </p:nvSpPr>
        <p:spPr>
          <a:xfrm>
            <a:off x="1303800" y="209775"/>
            <a:ext cx="7030500" cy="65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/>
              <a:t>Висновки</a:t>
            </a:r>
            <a:endParaRPr/>
          </a:p>
        </p:txBody>
      </p:sp>
      <p:sp>
        <p:nvSpPr>
          <p:cNvPr id="354" name="Google Shape;354;p25"/>
          <p:cNvSpPr txBox="1"/>
          <p:nvPr>
            <p:ph idx="1" type="body"/>
          </p:nvPr>
        </p:nvSpPr>
        <p:spPr>
          <a:xfrm>
            <a:off x="1303800" y="1173600"/>
            <a:ext cx="7030500" cy="3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uk"/>
              <a:t>  - Траєкторії БПЛА мають фрактальну структуру з H &gt; 0.5 (персистентність)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uk"/>
              <a:t>  - Хаотичний режим -&gt; найвища D, найбільші витрати енергії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uk"/>
              <a:t>  - Лінійний/waypoint режими -&gt; нижча D, ефективніший рух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uk"/>
              <a:t>  - ARFIMA точніше прогнозує ряди з довготривалою пам'яттю ніж MA/ARIMA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uk"/>
              <a:t>  - Δα з MF-DFA підтверджує мультифрактальність хаотичних траєкторій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